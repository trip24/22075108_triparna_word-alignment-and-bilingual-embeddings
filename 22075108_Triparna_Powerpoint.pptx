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nva Sans" charset="1" panose="020B0503030501040103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0196" y="1761232"/>
            <a:ext cx="12665290" cy="202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6"/>
              </a:lnSpc>
              <a:spcBef>
                <a:spcPct val="0"/>
              </a:spcBef>
            </a:pPr>
            <a:r>
              <a:rPr lang="en-US" sz="58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Word Alignment and Bilingual Embeddings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74320" y="6382064"/>
            <a:ext cx="9658285" cy="303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2"/>
              </a:lnSpc>
              <a:spcBef>
                <a:spcPct val="0"/>
              </a:spcBef>
            </a:pPr>
            <a:r>
              <a:rPr lang="en-US" sz="43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Name</a:t>
            </a:r>
            <a:r>
              <a:rPr lang="en-US" sz="43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Triparna Samanta</a:t>
            </a:r>
          </a:p>
          <a:p>
            <a:pPr algn="ctr">
              <a:lnSpc>
                <a:spcPts val="6042"/>
              </a:lnSpc>
              <a:spcBef>
                <a:spcPct val="0"/>
              </a:spcBef>
            </a:pPr>
            <a:r>
              <a:rPr lang="en-US" sz="43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Roll No: 22075108</a:t>
            </a:r>
          </a:p>
          <a:p>
            <a:pPr algn="ctr">
              <a:lnSpc>
                <a:spcPts val="6042"/>
              </a:lnSpc>
              <a:spcBef>
                <a:spcPct val="0"/>
              </a:spcBef>
            </a:pPr>
            <a:r>
              <a:rPr lang="en-US" sz="43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Professor: Anil Singh</a:t>
            </a:r>
          </a:p>
          <a:p>
            <a:pPr algn="ctr">
              <a:lnSpc>
                <a:spcPts val="6042"/>
              </a:lnSpc>
              <a:spcBef>
                <a:spcPct val="0"/>
              </a:spcBef>
            </a:pPr>
            <a:r>
              <a:rPr lang="en-US" sz="43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Institute: IIT(BHU), Varanasi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38924" y="1033665"/>
            <a:ext cx="3880396" cy="99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6"/>
              </a:lnSpc>
              <a:spcBef>
                <a:spcPct val="0"/>
              </a:spcBef>
            </a:pPr>
            <a:r>
              <a:rPr lang="en-US" sz="58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Motivation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439520"/>
            <a:ext cx="18050974" cy="713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a.</a:t>
            </a: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Cross-lingual NLP requires mapping words across languages.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319761" y="3572241"/>
            <a:ext cx="21917459" cy="627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  <a:spcBef>
                <a:spcPct val="0"/>
              </a:spcBef>
            </a:pPr>
            <a:r>
              <a:rPr lang="en-US" sz="36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b.</a:t>
            </a:r>
            <a:r>
              <a:rPr lang="en-US" sz="36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Hindi–English resources are limited → need good bilingual representations.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599774"/>
            <a:ext cx="14578408" cy="70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  <a:spcBef>
                <a:spcPct val="0"/>
              </a:spcBef>
            </a:pPr>
            <a:r>
              <a:rPr lang="en-US" sz="40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c.</a:t>
            </a:r>
            <a:r>
              <a:rPr lang="en-US" sz="40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Word alignment + embedding alignment enables: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1931" y="5864526"/>
            <a:ext cx="6294777" cy="2577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8"/>
              </a:lnSpc>
              <a:spcBef>
                <a:spcPct val="0"/>
              </a:spcBef>
            </a:pPr>
            <a:r>
              <a:rPr lang="en-US" sz="36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</a:t>
            </a:r>
            <a:r>
              <a:rPr lang="en-US" sz="36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Machine translation</a:t>
            </a:r>
          </a:p>
          <a:p>
            <a:pPr algn="ctr">
              <a:lnSpc>
                <a:spcPts val="5138"/>
              </a:lnSpc>
              <a:spcBef>
                <a:spcPct val="0"/>
              </a:spcBef>
            </a:pPr>
            <a:r>
              <a:rPr lang="en-US" sz="36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2.Bilingual dictionaries</a:t>
            </a:r>
          </a:p>
          <a:p>
            <a:pPr algn="ctr">
              <a:lnSpc>
                <a:spcPts val="5138"/>
              </a:lnSpc>
              <a:spcBef>
                <a:spcPct val="0"/>
              </a:spcBef>
            </a:pPr>
            <a:r>
              <a:rPr lang="en-US" sz="36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3.Cross-lingual search</a:t>
            </a:r>
          </a:p>
          <a:p>
            <a:pPr algn="ctr">
              <a:lnSpc>
                <a:spcPts val="5138"/>
              </a:lnSpc>
              <a:spcBef>
                <a:spcPct val="0"/>
              </a:spcBef>
            </a:pPr>
            <a:r>
              <a:rPr lang="en-US" sz="36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4.Representation sharing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3296" y="952500"/>
            <a:ext cx="2676227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b="true" sz="41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Used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7655064" y="1920182"/>
            <a:ext cx="25400716" cy="733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7"/>
              </a:lnSpc>
              <a:spcBef>
                <a:spcPct val="0"/>
              </a:spcBef>
            </a:pPr>
            <a:r>
              <a:rPr lang="en-US" b="true" sz="51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Parallel Corpus</a:t>
            </a:r>
          </a:p>
          <a:p>
            <a:pPr algn="ctr">
              <a:lnSpc>
                <a:spcPts val="7277"/>
              </a:lnSpc>
              <a:spcBef>
                <a:spcPct val="0"/>
              </a:spcBef>
            </a:pPr>
            <a:r>
              <a:rPr lang="en-US" sz="5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Source: AI4Bharat Samanantar</a:t>
            </a:r>
          </a:p>
          <a:p>
            <a:pPr algn="ctr">
              <a:lnSpc>
                <a:spcPts val="7277"/>
              </a:lnSpc>
              <a:spcBef>
                <a:spcPct val="0"/>
              </a:spcBef>
            </a:pPr>
            <a:r>
              <a:rPr lang="en-US" sz="5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Files: en.txt, hi.txt</a:t>
            </a:r>
          </a:p>
          <a:p>
            <a:pPr algn="ctr">
              <a:lnSpc>
                <a:spcPts val="7277"/>
              </a:lnSpc>
              <a:spcBef>
                <a:spcPct val="0"/>
              </a:spcBef>
            </a:pPr>
            <a:r>
              <a:rPr lang="en-US" sz="5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b="true" sz="51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Comparable Corpus</a:t>
            </a:r>
          </a:p>
          <a:p>
            <a:pPr algn="ctr">
              <a:lnSpc>
                <a:spcPts val="7277"/>
              </a:lnSpc>
              <a:spcBef>
                <a:spcPct val="0"/>
              </a:spcBef>
            </a:pPr>
            <a:r>
              <a:rPr lang="en-US" sz="5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           Manually scraped Wikipedia articles (Sports,           Tech, Education)</a:t>
            </a:r>
          </a:p>
          <a:p>
            <a:pPr algn="ctr">
              <a:lnSpc>
                <a:spcPts val="7277"/>
              </a:lnSpc>
              <a:spcBef>
                <a:spcPct val="0"/>
              </a:spcBef>
            </a:pPr>
            <a:r>
              <a:rPr lang="en-US" sz="5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b="true" sz="51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Monolingual Corpus</a:t>
            </a:r>
          </a:p>
          <a:p>
            <a:pPr algn="ctr">
              <a:lnSpc>
                <a:spcPts val="7277"/>
              </a:lnSpc>
              <a:spcBef>
                <a:spcPct val="0"/>
              </a:spcBef>
            </a:pPr>
            <a:r>
              <a:rPr lang="en-US" sz="5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           IIT Bombay English &amp; Hindi monolingual dataset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6479" y="952500"/>
            <a:ext cx="4447282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b="true" sz="41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0550" y="2094891"/>
            <a:ext cx="8498979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b="true" sz="41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Pipeline consists of three stages: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70968" y="3571717"/>
            <a:ext cx="15217229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a.</a:t>
            </a: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Parallel corpora → FastText embeddings → Word alignment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0968" y="5303634"/>
            <a:ext cx="12193042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b.</a:t>
            </a: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Comparable corpora → Enhanced embeddings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0968" y="7033396"/>
            <a:ext cx="14098786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c.</a:t>
            </a: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Monolingual corpora → Final high-quality embeddings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31036" y="2986531"/>
            <a:ext cx="10710708" cy="2549354"/>
          </a:xfrm>
          <a:custGeom>
            <a:avLst/>
            <a:gdLst/>
            <a:ahLst/>
            <a:cxnLst/>
            <a:rect r="r" b="b" t="t" l="l"/>
            <a:pathLst>
              <a:path h="2549354" w="10710708">
                <a:moveTo>
                  <a:pt x="0" y="0"/>
                </a:moveTo>
                <a:lnTo>
                  <a:pt x="10710708" y="0"/>
                </a:lnTo>
                <a:lnTo>
                  <a:pt x="10710708" y="2549354"/>
                </a:lnTo>
                <a:lnTo>
                  <a:pt x="0" y="2549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8574" y="948686"/>
            <a:ext cx="11496973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b="true" sz="41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FastText Embedding Training (Parallel Stage)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05747" y="1943038"/>
            <a:ext cx="8359825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English and Hindi separately: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05747" y="5790435"/>
            <a:ext cx="2250579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26980" y="6542304"/>
            <a:ext cx="8399413" cy="145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eng.bin → English vector model</a:t>
            </a:r>
          </a:p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hin.bin → Hindi vector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64725" y="8036096"/>
            <a:ext cx="10512623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These embeddings are unaligned initially.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53537" y="4086720"/>
            <a:ext cx="5848886" cy="3509332"/>
          </a:xfrm>
          <a:custGeom>
            <a:avLst/>
            <a:gdLst/>
            <a:ahLst/>
            <a:cxnLst/>
            <a:rect r="r" b="b" t="t" l="l"/>
            <a:pathLst>
              <a:path h="3509332" w="5848886">
                <a:moveTo>
                  <a:pt x="0" y="0"/>
                </a:moveTo>
                <a:lnTo>
                  <a:pt x="5848887" y="0"/>
                </a:lnTo>
                <a:lnTo>
                  <a:pt x="5848887" y="3509332"/>
                </a:lnTo>
                <a:lnTo>
                  <a:pt x="0" y="3509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1012" y="952500"/>
            <a:ext cx="8315623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b="true" sz="41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Word Alignment Using SimAlign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3929" y="1993892"/>
            <a:ext cx="1398984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56184" y="2924198"/>
            <a:ext cx="14820900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Parallel sentences allow extraction of bilingual word pairs.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4459161" y="4186908"/>
            <a:ext cx="14820900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Method: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58455" y="5067300"/>
            <a:ext cx="4700736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 SimAlign with: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03422" y="5951492"/>
            <a:ext cx="8905003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Model: xlm-roberta-base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6737" y="6883310"/>
            <a:ext cx="8905003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Token type: BPE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9444" y="7719877"/>
            <a:ext cx="15682980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Matching method: MWMF (best performing)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71291" y="4893033"/>
            <a:ext cx="6384073" cy="2600919"/>
          </a:xfrm>
          <a:custGeom>
            <a:avLst/>
            <a:gdLst/>
            <a:ahLst/>
            <a:cxnLst/>
            <a:rect r="r" b="b" t="t" l="l"/>
            <a:pathLst>
              <a:path h="2600919" w="6384073">
                <a:moveTo>
                  <a:pt x="0" y="0"/>
                </a:moveTo>
                <a:lnTo>
                  <a:pt x="6384073" y="0"/>
                </a:lnTo>
                <a:lnTo>
                  <a:pt x="6384073" y="2600919"/>
                </a:lnTo>
                <a:lnTo>
                  <a:pt x="0" y="26009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8854" y="952500"/>
            <a:ext cx="8750350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b="true" sz="41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Aligning Embeddings (Procrustes)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4016420" y="1839509"/>
            <a:ext cx="19575421" cy="294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Using the SimAlign seed:</a:t>
            </a:r>
          </a:p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        a.Build matrices X (English vectors) and Y (Hindi vectors)</a:t>
            </a:r>
          </a:p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b.Solve Orthogonal Procrustes: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54206" y="7936576"/>
            <a:ext cx="12914104" cy="145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brings both languages into the same embedding space.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26582" y="1911387"/>
            <a:ext cx="6485560" cy="6177979"/>
          </a:xfrm>
          <a:custGeom>
            <a:avLst/>
            <a:gdLst/>
            <a:ahLst/>
            <a:cxnLst/>
            <a:rect r="r" b="b" t="t" l="l"/>
            <a:pathLst>
              <a:path h="6177979" w="6485560">
                <a:moveTo>
                  <a:pt x="0" y="0"/>
                </a:moveTo>
                <a:lnTo>
                  <a:pt x="6485559" y="0"/>
                </a:lnTo>
                <a:lnTo>
                  <a:pt x="6485559" y="6177978"/>
                </a:lnTo>
                <a:lnTo>
                  <a:pt x="0" y="6177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58813" y="2098653"/>
            <a:ext cx="5839812" cy="6089693"/>
          </a:xfrm>
          <a:custGeom>
            <a:avLst/>
            <a:gdLst/>
            <a:ahLst/>
            <a:cxnLst/>
            <a:rect r="r" b="b" t="t" l="l"/>
            <a:pathLst>
              <a:path h="6089693" w="5839812">
                <a:moveTo>
                  <a:pt x="0" y="0"/>
                </a:moveTo>
                <a:lnTo>
                  <a:pt x="5839812" y="0"/>
                </a:lnTo>
                <a:lnTo>
                  <a:pt x="5839812" y="6089694"/>
                </a:lnTo>
                <a:lnTo>
                  <a:pt x="0" y="6089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52500"/>
            <a:ext cx="5302597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b="true" sz="41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Visualization (t-SNE)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85241" y="8309237"/>
            <a:ext cx="9262765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Aligned EN(B) and HI(R) embeddings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4118" y="8309237"/>
            <a:ext cx="6229201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Unaligned HI vs EN emb.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6762006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b="true" sz="41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Comparable Corpus Stage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295197" y="1857400"/>
            <a:ext cx="6762006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dded: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85806" y="2760642"/>
            <a:ext cx="5568255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Wikipedia English text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24792" y="3663885"/>
            <a:ext cx="5568255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Wikipedia Hindi text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82416" y="4567127"/>
            <a:ext cx="7375196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Synthetic sports corpora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762806" y="5794056"/>
            <a:ext cx="7375196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24792" y="6697298"/>
            <a:ext cx="10466933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Combined parallel + comparable corpora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6676" y="7441184"/>
            <a:ext cx="10466933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Trained bigger FastText models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23086" y="8182501"/>
            <a:ext cx="14241828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Re-applied Procrustes using same SimAlign seed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0123" y="8923818"/>
            <a:ext cx="14241828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Generated better dictionary + visualization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8471" y="952500"/>
            <a:ext cx="6817519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b="true" sz="41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Monolingual Corpus Stage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1514" y="1857400"/>
            <a:ext cx="10091479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Using IIT Bombay monolingual data: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37066"/>
            <a:ext cx="10091479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 large FastText models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40309"/>
            <a:ext cx="10091479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Again align with Procrustes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19726"/>
            <a:ext cx="15315504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Produce best-quality bilingual embedding space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4642587" y="6004018"/>
            <a:ext cx="15315504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2739" y="6640561"/>
            <a:ext cx="7687419" cy="294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eng_mono.bin</a:t>
            </a:r>
          </a:p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hin_mono.bin</a:t>
            </a:r>
          </a:p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R_mono.npy</a:t>
            </a:r>
          </a:p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dictionary_mono.json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43146" y="4481024"/>
            <a:ext cx="5046329" cy="5423284"/>
          </a:xfrm>
          <a:custGeom>
            <a:avLst/>
            <a:gdLst/>
            <a:ahLst/>
            <a:cxnLst/>
            <a:rect r="r" b="b" t="t" l="l"/>
            <a:pathLst>
              <a:path h="5423284" w="5046329">
                <a:moveTo>
                  <a:pt x="0" y="0"/>
                </a:moveTo>
                <a:lnTo>
                  <a:pt x="5046329" y="0"/>
                </a:lnTo>
                <a:lnTo>
                  <a:pt x="5046329" y="5423283"/>
                </a:lnTo>
                <a:lnTo>
                  <a:pt x="0" y="54232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5781973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b="true" sz="41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Dictionary Generation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785838"/>
            <a:ext cx="12795047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Map English vector → Hindi space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983977" y="2622405"/>
            <a:ext cx="12795047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Compute cosine similarity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57024" y="3568256"/>
            <a:ext cx="4757142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Pick top candidate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55259" y="6798194"/>
            <a:ext cx="10363051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Comparable corpora bilingual dictionary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421" y="1028700"/>
            <a:ext cx="5232451" cy="5623309"/>
          </a:xfrm>
          <a:custGeom>
            <a:avLst/>
            <a:gdLst/>
            <a:ahLst/>
            <a:cxnLst/>
            <a:rect r="r" b="b" t="t" l="l"/>
            <a:pathLst>
              <a:path h="5623309" w="5232451">
                <a:moveTo>
                  <a:pt x="0" y="0"/>
                </a:moveTo>
                <a:lnTo>
                  <a:pt x="5232451" y="0"/>
                </a:lnTo>
                <a:lnTo>
                  <a:pt x="5232451" y="5623309"/>
                </a:lnTo>
                <a:lnTo>
                  <a:pt x="0" y="56233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26969" y="1028700"/>
            <a:ext cx="5232451" cy="5623309"/>
          </a:xfrm>
          <a:custGeom>
            <a:avLst/>
            <a:gdLst/>
            <a:ahLst/>
            <a:cxnLst/>
            <a:rect r="r" b="b" t="t" l="l"/>
            <a:pathLst>
              <a:path h="5623309" w="5232451">
                <a:moveTo>
                  <a:pt x="0" y="0"/>
                </a:moveTo>
                <a:lnTo>
                  <a:pt x="5232451" y="0"/>
                </a:lnTo>
                <a:lnTo>
                  <a:pt x="5232451" y="5623309"/>
                </a:lnTo>
                <a:lnTo>
                  <a:pt x="0" y="5623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60626" y="6951509"/>
            <a:ext cx="5232451" cy="2198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Monolingual corpora bilingual dictionary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05874" y="7094633"/>
            <a:ext cx="5232451" cy="145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English monolingual dictionary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05618" y="1312087"/>
            <a:ext cx="5232451" cy="5623309"/>
          </a:xfrm>
          <a:custGeom>
            <a:avLst/>
            <a:gdLst/>
            <a:ahLst/>
            <a:cxnLst/>
            <a:rect r="r" b="b" t="t" l="l"/>
            <a:pathLst>
              <a:path h="5623309" w="5232451">
                <a:moveTo>
                  <a:pt x="0" y="0"/>
                </a:moveTo>
                <a:lnTo>
                  <a:pt x="5232451" y="0"/>
                </a:lnTo>
                <a:lnTo>
                  <a:pt x="5232451" y="5623309"/>
                </a:lnTo>
                <a:lnTo>
                  <a:pt x="0" y="56233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59545" y="1204744"/>
            <a:ext cx="5232451" cy="5623309"/>
          </a:xfrm>
          <a:custGeom>
            <a:avLst/>
            <a:gdLst/>
            <a:ahLst/>
            <a:cxnLst/>
            <a:rect r="r" b="b" t="t" l="l"/>
            <a:pathLst>
              <a:path h="5623309" w="5232451">
                <a:moveTo>
                  <a:pt x="0" y="0"/>
                </a:moveTo>
                <a:lnTo>
                  <a:pt x="5232451" y="0"/>
                </a:lnTo>
                <a:lnTo>
                  <a:pt x="5232451" y="5623309"/>
                </a:lnTo>
                <a:lnTo>
                  <a:pt x="0" y="5623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62494" y="7217006"/>
            <a:ext cx="5232451" cy="145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Hindi monolingual dictionary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4779" y="7413802"/>
            <a:ext cx="5232451" cy="145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Parallel bilingual dictionary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706" y="952500"/>
            <a:ext cx="2919412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b="true" sz="41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92888" y="1821619"/>
            <a:ext cx="2919412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work: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92888" y="2686761"/>
            <a:ext cx="14619797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Demonstrates a full bilingual embedding pipeline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89683" y="4160958"/>
            <a:ext cx="14619797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modern NLP tools (SimAlign, FastText, XLM-R)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92888" y="5767345"/>
            <a:ext cx="14619797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Produces aligned vector spaces for Hindi–English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2502" y="7119507"/>
            <a:ext cx="14619797" cy="71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4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Generates human-like translation dictionaries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55890" y="3692196"/>
            <a:ext cx="6247086" cy="171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4"/>
              </a:lnSpc>
              <a:spcBef>
                <a:spcPct val="0"/>
              </a:spcBef>
            </a:pPr>
            <a:r>
              <a:rPr lang="en-US" sz="100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DAG5sIJlR5E</dc:identifier>
  <dcterms:modified xsi:type="dcterms:W3CDTF">2011-08-01T06:04:30Z</dcterms:modified>
  <cp:revision>1</cp:revision>
  <dc:title>Word Alignment and Bilingual</dc:title>
</cp:coreProperties>
</file>